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Source Sans 3" panose="020B0303030403090204" pitchFamily="34" charset="0"/>
      <p:regular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337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9717" y="689729"/>
            <a:ext cx="7497366" cy="133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Sloshing Suppression in Liquid Transport Systems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309717" y="2362557"/>
            <a:ext cx="7497366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PID Controller Design, Modeling &amp; Experimental Setup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09717" y="2959298"/>
            <a:ext cx="7497366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717" y="3556040"/>
            <a:ext cx="7497366" cy="33869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717" y="7195185"/>
            <a:ext cx="7497366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8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E85778-205B-1717-1A38-FFF5BDF9BD7F}"/>
              </a:ext>
            </a:extLst>
          </p:cNvPr>
          <p:cNvSpPr/>
          <p:nvPr/>
        </p:nvSpPr>
        <p:spPr>
          <a:xfrm>
            <a:off x="12801600" y="7539752"/>
            <a:ext cx="1727200" cy="562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901" y="639366"/>
            <a:ext cx="4867156" cy="591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728901" y="1494353"/>
            <a:ext cx="13172599" cy="1105614"/>
          </a:xfrm>
          <a:prstGeom prst="roundRect">
            <a:avLst>
              <a:gd name="adj" fmla="val 282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7141" y="1702594"/>
            <a:ext cx="2754987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Uncontrolled Sloshing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937141" y="2103834"/>
            <a:ext cx="1275611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Free-surface liquid oscillations cause equipment instability, spillage losses, and failure to meet quality control demands.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8901" y="2775585"/>
            <a:ext cx="13172599" cy="1105614"/>
          </a:xfrm>
          <a:prstGeom prst="roundRect">
            <a:avLst>
              <a:gd name="adj" fmla="val 282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7141" y="2983825"/>
            <a:ext cx="2366605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Root Causes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37141" y="3385066"/>
            <a:ext cx="1275611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Sudden starts/stops, dynamic accelerations, external vibrations, and natural fluid frequency responses trigger slosh waves.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8901" y="4056817"/>
            <a:ext cx="13172599" cy="1105614"/>
          </a:xfrm>
          <a:prstGeom prst="roundRect">
            <a:avLst>
              <a:gd name="adj" fmla="val 282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7141" y="4265057"/>
            <a:ext cx="2366605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Control Challenge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37141" y="4666297"/>
            <a:ext cx="1275611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Variable liquid properties across containers make fixed-gain PID tuning difficult for multi-product production runs.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8901" y="5360075"/>
            <a:ext cx="13172599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8901" y="5845612"/>
            <a:ext cx="13172599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8901" y="6331148"/>
            <a:ext cx="13172599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901" y="7302222"/>
            <a:ext cx="13172599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84448A-CDB5-68C2-908F-9480558A09DF}"/>
              </a:ext>
            </a:extLst>
          </p:cNvPr>
          <p:cNvSpPr/>
          <p:nvPr/>
        </p:nvSpPr>
        <p:spPr>
          <a:xfrm>
            <a:off x="12801600" y="7539752"/>
            <a:ext cx="1727200" cy="562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10DD05-B610-5453-45DC-775654D8C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24"/>
            <a:ext cx="14435344" cy="68976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873" y="565547"/>
            <a:ext cx="4557951" cy="569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Modeling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358" y="1562814"/>
            <a:ext cx="3362325" cy="20744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1873" y="3820478"/>
            <a:ext cx="6917293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Pendulum model for liquid-filled container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73" y="4221837"/>
            <a:ext cx="4677966" cy="28941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873" y="7299246"/>
            <a:ext cx="6917293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Belt Drive System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7938095" y="1278016"/>
            <a:ext cx="4486989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u="sng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Liquid Model — Equivalent Pendulum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901780" y="1769795"/>
            <a:ext cx="6316861" cy="112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Liquid dynamics are represented by a 2D pendulum model. Linearized transfer function: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8115895" y="3630930"/>
            <a:ext cx="5820132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9826" y="2641024"/>
            <a:ext cx="5820132" cy="6709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15895" y="4508063"/>
            <a:ext cx="5820132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115895" y="4927163"/>
            <a:ext cx="5820132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8007647" y="4921031"/>
            <a:ext cx="298406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u="sng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Belt Drive &amp; PMDC Motor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007647" y="5561826"/>
            <a:ext cx="6036627" cy="128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PMDC motor (1 gearbox) drives a toothed belt carriage over a </a:t>
            </a:r>
            <a:r>
              <a:rPr lang="en-US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1-m linear path</a:t>
            </a:r>
            <a:r>
              <a:rPr lang="en-US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Motor dynamics include armature resistance, inductance, and back-EMF feedback.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DACE56-7680-6CC4-AC90-4417B498BD48}"/>
              </a:ext>
            </a:extLst>
          </p:cNvPr>
          <p:cNvSpPr/>
          <p:nvPr/>
        </p:nvSpPr>
        <p:spPr>
          <a:xfrm>
            <a:off x="12801600" y="7539752"/>
            <a:ext cx="1727200" cy="562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6375" y="426720"/>
            <a:ext cx="3418403" cy="42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Stability Analysis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75" y="1094423"/>
            <a:ext cx="6605349" cy="66053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75" y="1094423"/>
            <a:ext cx="6605349" cy="66053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08800" y="1958847"/>
            <a:ext cx="4482224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BIBO Stability — Bounded Input, Bounded Output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908800" y="2581673"/>
            <a:ext cx="7195225" cy="95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closed-loop PID system is </a:t>
            </a:r>
            <a:r>
              <a:rPr lang="en-US" sz="20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BIBO stable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bounded inputs produce bounded outputs with no unbounded growth.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6908800" y="3991906"/>
            <a:ext cx="7011749" cy="2040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Step response settles to a constant value without divergence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closed-loop poles lie in the </a:t>
            </a:r>
            <a:r>
              <a:rPr lang="en-US" sz="24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left-half plane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excessive oscillations or instability under S-curve motion profiles</a:t>
            </a:r>
            <a:endParaRPr lang="en-US" sz="2400" dirty="0"/>
          </a:p>
          <a:p>
            <a:pPr marL="342900" indent="-342900" algn="l">
              <a:buSzPct val="100000"/>
              <a:buChar char="•"/>
            </a:pP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Stability confirmed via simulation and experimental validation</a:t>
            </a:r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AEA13-50CD-6471-C747-193F4651A424}"/>
              </a:ext>
            </a:extLst>
          </p:cNvPr>
          <p:cNvSpPr/>
          <p:nvPr/>
        </p:nvSpPr>
        <p:spPr>
          <a:xfrm>
            <a:off x="12801600" y="7539752"/>
            <a:ext cx="1727200" cy="562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392" y="577810"/>
            <a:ext cx="6246971" cy="536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Where the Problem Exists ?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661392" y="1403866"/>
            <a:ext cx="13307616" cy="11338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4252" y="1426726"/>
            <a:ext cx="755809" cy="1088112"/>
          </a:xfrm>
          <a:prstGeom prst="roundRect">
            <a:avLst>
              <a:gd name="adj" fmla="val 12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0472" y="1793558"/>
            <a:ext cx="2833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84722" y="1615678"/>
            <a:ext cx="3860602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Sudden Acceleration/Deceleration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84722" y="1970961"/>
            <a:ext cx="12172474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Rapid motion changes excite natural fluid frequencies, generating large slosh waves.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61392" y="2682359"/>
            <a:ext cx="13307616" cy="11338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4252" y="2705219"/>
            <a:ext cx="755809" cy="1088112"/>
          </a:xfrm>
          <a:prstGeom prst="roundRect">
            <a:avLst>
              <a:gd name="adj" fmla="val 12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0472" y="3072051"/>
            <a:ext cx="2833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84722" y="2894171"/>
            <a:ext cx="2915245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Variable Liquid Properties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584722" y="3249454"/>
            <a:ext cx="12172474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Different viscosities and densities shift system dynamics, requiring retuning.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61392" y="3960852"/>
            <a:ext cx="13307616" cy="11338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4252" y="3983712"/>
            <a:ext cx="755809" cy="1088112"/>
          </a:xfrm>
          <a:prstGeom prst="roundRect">
            <a:avLst>
              <a:gd name="adj" fmla="val 12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0472" y="4350544"/>
            <a:ext cx="2833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84722" y="4172664"/>
            <a:ext cx="2484477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External Disturbances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84722" y="4527947"/>
            <a:ext cx="12172474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Vibrational noise and sudden loads disrupt PID performance without adaptive compensation.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61392" y="5239345"/>
            <a:ext cx="13307616" cy="11338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4252" y="5262205"/>
            <a:ext cx="755809" cy="1088112"/>
          </a:xfrm>
          <a:prstGeom prst="roundRect">
            <a:avLst>
              <a:gd name="adj" fmla="val 12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0472" y="5629037"/>
            <a:ext cx="2833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84722" y="5451158"/>
            <a:ext cx="2170390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Fill Level Variations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584722" y="5806440"/>
            <a:ext cx="12172474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Changing fill levels alter natural frequency, degrading fixed-gain PID effectiveness.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61392" y="6517838"/>
            <a:ext cx="13307616" cy="11338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4252" y="6540698"/>
            <a:ext cx="755809" cy="1088112"/>
          </a:xfrm>
          <a:prstGeom prst="roundRect">
            <a:avLst>
              <a:gd name="adj" fmla="val 12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20472" y="6907530"/>
            <a:ext cx="2833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584722" y="6729651"/>
            <a:ext cx="3003113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Pole Placement Sensitivity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584722" y="7084933"/>
            <a:ext cx="12172474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Fixed PID gains place poles at specific locations; parameter shifts move poles toward instability.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B2A545-ECDE-6BA5-0EC7-8DC02D8212DC}"/>
              </a:ext>
            </a:extLst>
          </p:cNvPr>
          <p:cNvSpPr/>
          <p:nvPr/>
        </p:nvSpPr>
        <p:spPr>
          <a:xfrm>
            <a:off x="12877800" y="7738466"/>
            <a:ext cx="1651000" cy="3641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338" y="536972"/>
            <a:ext cx="7764661" cy="49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      Solution: Mathematical Equations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38" y="1273969"/>
            <a:ext cx="7713464" cy="64185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2040A8-FEFD-DA28-4674-1D6BDE79EF40}"/>
              </a:ext>
            </a:extLst>
          </p:cNvPr>
          <p:cNvSpPr/>
          <p:nvPr/>
        </p:nvSpPr>
        <p:spPr>
          <a:xfrm>
            <a:off x="12801600" y="7539752"/>
            <a:ext cx="1727200" cy="562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61417"/>
            <a:ext cx="1202019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PID Controller — Solution &amp; Performance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18" y="2056328"/>
            <a:ext cx="12902565" cy="53117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EE1693-11B0-7D92-D61B-8EA35951D084}"/>
              </a:ext>
            </a:extLst>
          </p:cNvPr>
          <p:cNvSpPr/>
          <p:nvPr/>
        </p:nvSpPr>
        <p:spPr>
          <a:xfrm>
            <a:off x="12801600" y="7539752"/>
            <a:ext cx="1727200" cy="562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717" y="493492"/>
            <a:ext cx="7257693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Proportional–Integral–Derivative Controller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3317" y="1467922"/>
            <a:ext cx="12983766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Control Law (Main Equation)                                                                  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3317" y="3196828"/>
            <a:ext cx="12983766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850" dirty="0">
              <a:solidFill>
                <a:srgbClr val="3D3838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PID gains tuned via trial-and-error used for simulation and experimental analysis: </a:t>
            </a:r>
            <a:r>
              <a:rPr lang="en-US" sz="18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Kp = 7, Ki = 5, Kd = 3</a:t>
            </a:r>
            <a:r>
              <a:rPr lang="en-US" sz="18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The controller uses encoder feedback to regulate PMDC motor voltage and counteract slosh resonance.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23317" y="4222194"/>
            <a:ext cx="5116116" cy="400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2500" b="1" dirty="0">
              <a:solidFill>
                <a:srgbClr val="000000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Closed Loop Transfer Function</a:t>
            </a:r>
            <a:endParaRPr lang="en-US" sz="25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31142E-5402-8DB0-2280-46AB71778491}"/>
              </a:ext>
            </a:extLst>
          </p:cNvPr>
          <p:cNvSpPr/>
          <p:nvPr/>
        </p:nvSpPr>
        <p:spPr>
          <a:xfrm>
            <a:off x="12801600" y="7539752"/>
            <a:ext cx="1727200" cy="562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C0C59A-32C2-4A7C-B27C-1B21B57EA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17" y="1953316"/>
            <a:ext cx="7772400" cy="11026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C35A6B-597E-7AED-519F-AEE34AFDA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735" y="5190169"/>
            <a:ext cx="2290366" cy="840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9EBC16-375D-49E2-977A-9096C5B7D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717" y="5226430"/>
            <a:ext cx="4317531" cy="16696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14E4BC-75FE-A122-06DF-25C69047AA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8735" y="6245541"/>
            <a:ext cx="5537200" cy="939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34135"/>
            <a:ext cx="5636181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Performance Highlights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63798" y="2490272"/>
            <a:ext cx="12902803" cy="265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b="1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Faster Response</a:t>
            </a:r>
            <a:r>
              <a:rPr lang="en-US" sz="24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PID significantly reduces </a:t>
            </a:r>
            <a:r>
              <a:rPr lang="en-US" sz="24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rise time</a:t>
            </a: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so system reacts quickly.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Reduced Overshoot: </a:t>
            </a: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Derivative action controls oscillations → </a:t>
            </a:r>
            <a:r>
              <a:rPr lang="en-US" sz="24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less sloshing peaks</a:t>
            </a: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Quick Settling: </a:t>
            </a: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reaches steady state faster → </a:t>
            </a:r>
            <a:r>
              <a:rPr lang="en-US" sz="24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improved stability</a:t>
            </a: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Zero Steady-State Error: </a:t>
            </a: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Integral action ensures output reaches exact desired value.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Improved Damping: </a:t>
            </a: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PID increases effective damping → </a:t>
            </a:r>
            <a:r>
              <a:rPr lang="en-US" sz="24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less oscillatory behavior</a:t>
            </a: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Better Control of Motion: </a:t>
            </a: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smooth acceleration/deceleration → </a:t>
            </a:r>
            <a:r>
              <a:rPr lang="en-US" sz="24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liquid sloshing</a:t>
            </a:r>
            <a:r>
              <a:rPr lang="en-US" sz="24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09E02F-84A5-8B12-1392-B0CABBDA55B0}"/>
              </a:ext>
            </a:extLst>
          </p:cNvPr>
          <p:cNvSpPr/>
          <p:nvPr/>
        </p:nvSpPr>
        <p:spPr>
          <a:xfrm>
            <a:off x="12801600" y="7539752"/>
            <a:ext cx="1727200" cy="562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38081"/>
            <a:ext cx="952250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Experimental Setup &amp; Validation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233" y="2187178"/>
            <a:ext cx="4659154" cy="4334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6799183"/>
            <a:ext cx="817602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649658" y="221456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Physical Platform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49658" y="2812018"/>
            <a:ext cx="4124444" cy="3676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HIWIN linear guide rails on wooden base — low friction, smooth motion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Container: 0.06 × 0.06 × 0.12 m, transported over 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1-m path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PMDC motor with encoder + 1:10 reduction gearbox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High-speed camera for liquid surface visualization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 switches at rail ends for safety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649658" y="673560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2FF45A-DD49-2EDB-0F8C-1B58A7362701}"/>
              </a:ext>
            </a:extLst>
          </p:cNvPr>
          <p:cNvSpPr/>
          <p:nvPr/>
        </p:nvSpPr>
        <p:spPr>
          <a:xfrm>
            <a:off x="12801600" y="7539752"/>
            <a:ext cx="1727200" cy="562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44" y="714256"/>
            <a:ext cx="3313271" cy="414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Validation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50344" y="1606629"/>
            <a:ext cx="12929711" cy="723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Simulink and experimental speed-tracking results show acceptable agreement. Minor deviations arise from sensor noise, friction, and real-world nonlinearities not captured in simulation.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44" y="2867739"/>
            <a:ext cx="3914299" cy="3171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44" y="6307812"/>
            <a:ext cx="3914299" cy="36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Height Sloshing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956" y="2867739"/>
            <a:ext cx="3914299" cy="31713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4956" y="6308050"/>
            <a:ext cx="3914299" cy="36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Velocity </a:t>
            </a:r>
            <a:endParaRPr lang="en-US" sz="1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9568" y="2867739"/>
            <a:ext cx="3915608" cy="30053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879568" y="6142077"/>
            <a:ext cx="3915608" cy="36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Displacement 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850344" y="7153751"/>
            <a:ext cx="12929711" cy="36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Results obtained from Simulink for PID Controller</a:t>
            </a:r>
            <a:endParaRPr lang="en-US" sz="1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C7CB60-4D2A-8E2B-0F96-BC99C49F84DF}"/>
              </a:ext>
            </a:extLst>
          </p:cNvPr>
          <p:cNvSpPr/>
          <p:nvPr/>
        </p:nvSpPr>
        <p:spPr>
          <a:xfrm>
            <a:off x="12801600" y="7539752"/>
            <a:ext cx="1727200" cy="562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67765"/>
            <a:ext cx="1133475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Applications and Physical Significance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798" y="2239208"/>
            <a:ext cx="616982" cy="6169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316468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Pharmaceuticals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3798" y="3663315"/>
            <a:ext cx="629709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Precision liquid drug filling and transport without contamination or spillage.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9386" y="2239208"/>
            <a:ext cx="616982" cy="6169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69386" y="316468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Food &amp; Beverage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69386" y="3663315"/>
            <a:ext cx="629721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High-speed bottling and packaging lines requiring smooth, spill-free conveyance.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3798" y="4897279"/>
            <a:ext cx="616982" cy="6169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3798" y="582275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Aerospace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63798" y="6321385"/>
            <a:ext cx="629709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Fuel slosh suppression in spacecraft and launch vehicle tanks during maneuvers.</a:t>
            </a:r>
            <a:endParaRPr lang="en-US" sz="1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69386" y="4897279"/>
            <a:ext cx="616982" cy="61698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69386" y="5822752"/>
            <a:ext cx="281130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Paints &amp; Chemicals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69386" y="6321385"/>
            <a:ext cx="629721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Safe transport of hazardous or viscous fluids in manufacturing environments.</a:t>
            </a:r>
            <a:endParaRPr lang="en-US" sz="1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14AEBE-7E8C-3987-2D6E-8C3772A71CB9}"/>
              </a:ext>
            </a:extLst>
          </p:cNvPr>
          <p:cNvSpPr/>
          <p:nvPr/>
        </p:nvSpPr>
        <p:spPr>
          <a:xfrm>
            <a:off x="12801600" y="7539752"/>
            <a:ext cx="1727200" cy="562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88663"/>
            <a:ext cx="794468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Limitations &amp; Future Scope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86038" y="2760107"/>
            <a:ext cx="6505813" cy="3780711"/>
          </a:xfrm>
          <a:prstGeom prst="roundRect">
            <a:avLst>
              <a:gd name="adj" fmla="val 979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2855" y="3006923"/>
            <a:ext cx="285666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Current 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2855" y="3604379"/>
            <a:ext cx="6012180" cy="210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PID requires retuning for each new liquid or fill level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robustness to sudden external disturbances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Linear path only — no curved or 3D trajectories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Fixed-gain structure lacks adaptability to nonlinearities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23929" y="300692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Directions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3929" y="3604379"/>
            <a:ext cx="6150293" cy="285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Utilize the proposed approach with a curve path to transport the liquid-filled container considering the rotational sloshing.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tilting mechanism for increased flexibility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 moving baffles for large-container transport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 the proposed controller performance with intelligent tuning PID controller.</a:t>
            </a:r>
            <a:endParaRPr lang="en-US" sz="1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D8A79F-6A53-4FA4-EB01-14DB1B3D988A}"/>
              </a:ext>
            </a:extLst>
          </p:cNvPr>
          <p:cNvSpPr/>
          <p:nvPr/>
        </p:nvSpPr>
        <p:spPr>
          <a:xfrm>
            <a:off x="12801600" y="7539752"/>
            <a:ext cx="1727200" cy="562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51585"/>
            <a:ext cx="129028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Conclusion: Advancing Slosh-Free Liquid Transport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3318" y="3117294"/>
            <a:ext cx="60960" cy="3891082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71575" y="3147774"/>
            <a:ext cx="330981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Main Accomplishment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71575" y="3646408"/>
            <a:ext cx="3787497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Successful implementation and validation of a PID control system demonstrating effective slosh suppression in liquid-filled containers during high-speed transfer on a linear path.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37083" y="3117294"/>
            <a:ext cx="60960" cy="3891082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75340" y="314777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Benefits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75340" y="3646408"/>
            <a:ext cx="3787497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Achieved significant improvements in system response, damping, and motion control, leading to reduced rise time, minimal overshoot, faster settling, and elimination of steady-state error.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40848" y="3117294"/>
            <a:ext cx="60960" cy="3891082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79104" y="3147774"/>
            <a:ext cx="306526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Broader Significance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979104" y="3646408"/>
            <a:ext cx="3787497" cy="333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control adaptation solution increases efficiency, reduces loss of products, and promotes safety in different industries such as food packaging, pharmaceuticals, aerospace, and chemical industries through a lighter solution compared to existing techniques for preventing sloshing.</a:t>
            </a:r>
            <a:endParaRPr lang="en-US" sz="1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EFAA0B-3BA0-8586-E5BA-7BE1F07A4476}"/>
              </a:ext>
            </a:extLst>
          </p:cNvPr>
          <p:cNvSpPr/>
          <p:nvPr/>
        </p:nvSpPr>
        <p:spPr>
          <a:xfrm>
            <a:off x="12801600" y="7539752"/>
            <a:ext cx="1727200" cy="562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788</Words>
  <Application>Microsoft Macintosh PowerPoint</Application>
  <PresentationFormat>Custom</PresentationFormat>
  <Paragraphs>108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Montserrat Bold</vt:lpstr>
      <vt:lpstr>Arial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purvijain1239@gmail.com</cp:lastModifiedBy>
  <cp:revision>3</cp:revision>
  <dcterms:created xsi:type="dcterms:W3CDTF">2026-04-16T17:02:58Z</dcterms:created>
  <dcterms:modified xsi:type="dcterms:W3CDTF">2026-04-16T17:58:11Z</dcterms:modified>
</cp:coreProperties>
</file>